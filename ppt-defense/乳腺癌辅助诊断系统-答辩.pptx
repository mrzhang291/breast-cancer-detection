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【开场】封面</a:t>
            </a:r>
          </a:p>
          <a:p>
            <a:r>
              <a:t>目的：用一句话定调：系统卖点不是"又一个模型"，而是每个结论都能溯源。</a:t>
            </a:r>
          </a:p>
          <a:p>
            <a:r>
              <a:t>讲述要点：</a:t>
            </a:r>
          </a:p>
          <a:p>
            <a:r>
              <a:t>- 开场先给结论：这是一个把模型判断、知识依据、操作动作串起来的系统。</a:t>
            </a:r>
          </a:p>
          <a:p>
            <a:r>
              <a:t>- 指出三条主线：Agent 框架、RAG 知识库、管理端 Coze。</a:t>
            </a:r>
          </a:p>
          <a:p>
            <a:r>
              <a:t>- 说明答辩结构：先讲用户端链路，再讲证据如何产生，最后讲运营与部署。</a:t>
            </a:r>
          </a:p>
          <a:p>
            <a:r>
              <a:t>过渡：从"为什么需要出处"进入第一个问题。</a:t>
            </a:r>
          </a:p>
          <a:p>
            <a:r>
              <a:t>提示：停顿 2 秒，确认投影比例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【定调】问题定义</a:t>
            </a:r>
          </a:p>
          <a:p>
            <a:r>
              <a:t>目的：把"模型准确率"叙事切换成"可解释、可追溯、可执行"。</a:t>
            </a:r>
          </a:p>
          <a:p>
            <a:r>
              <a:t>讲述要点：</a:t>
            </a:r>
          </a:p>
          <a:p>
            <a:r>
              <a:t>- 先承认模型本身不是壁垒：公开数据集、常见集成模型，谁都能训。</a:t>
            </a:r>
          </a:p>
          <a:p>
            <a:r>
              <a:t>- 真正的难点是让医生和评委敢用：概率要有校准，结论要有依据，建议要能落地。</a:t>
            </a:r>
          </a:p>
          <a:p>
            <a:r>
              <a:t>- 三个问题分别对应后面的校准、RAG 引用、Agent 工具调用。</a:t>
            </a:r>
          </a:p>
          <a:p>
            <a:r>
              <a:t>过渡：进入系统总览，看这三件事分别落在哪一层。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【架构】系统总览</a:t>
            </a:r>
          </a:p>
          <a:p>
            <a:r>
              <a:t>目的：建立全局心智模型：三层 + 管理端旁路。</a:t>
            </a:r>
          </a:p>
          <a:p>
            <a:r>
              <a:t>讲述要点：</a:t>
            </a:r>
          </a:p>
          <a:p>
            <a:r>
              <a:t>- 交互层是 Flask 渲染页面和 SSE 流；编排层是自研 Graph，不依赖 LangChain。</a:t>
            </a:r>
          </a:p>
          <a:p>
            <a:r>
              <a:t>- 证据层包含模型、校准、RAG 和 SQLite；管理端单独 5001 端口，不阻塞用户请求。</a:t>
            </a:r>
          </a:p>
          <a:p>
            <a:r>
              <a:t>- 强调管理端是旁路：即使 Coze 挂了，用户端预测和问答仍然可用。</a:t>
            </a:r>
          </a:p>
          <a:p>
            <a:r>
              <a:t>过渡：先看用户端最基础的一条链路：一次预测。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【实现】技术栈</a:t>
            </a:r>
          </a:p>
          <a:p>
            <a:r>
              <a:t>目的：证明技术选型可控、代码量真实、没有过度依赖。</a:t>
            </a:r>
          </a:p>
          <a:p>
            <a:r>
              <a:t>讲述要点：</a:t>
            </a:r>
          </a:p>
          <a:p>
            <a:r>
              <a:t>- 后端 Flask + gunicorn，前端原生 JS，避免 React 构建链在答辩环境出问题。</a:t>
            </a:r>
          </a:p>
          <a:p>
            <a:r>
              <a:t>- 模型是 sklearn 集成 + 校准，不是调 API；RAG 的倒排和向量都落在 SQLite。</a:t>
            </a:r>
          </a:p>
          <a:p>
            <a:r>
              <a:t>- 运维只有 Shell + Nginx + Actions，部署可复现。</a:t>
            </a:r>
          </a:p>
          <a:p>
            <a:r>
              <a:t>过渡：从技术栈切到真实链路：一次预测发生了什么。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【实现】预测链路</a:t>
            </a:r>
          </a:p>
          <a:p>
            <a:r>
              <a:t>目的：把模型调用讲成可验证的工程链路。</a:t>
            </a:r>
          </a:p>
          <a:p>
            <a:r>
              <a:t>讲述要点：</a:t>
            </a:r>
          </a:p>
          <a:p>
            <a:r>
              <a:t>- 表单提交 30 项特征，后端先做单位与范围校验。</a:t>
            </a:r>
          </a:p>
          <a:p>
            <a:r>
              <a:t>- 标准化参数来自训练集，避免数据泄漏；集成模型输出原始概率。</a:t>
            </a:r>
          </a:p>
          <a:p>
            <a:r>
              <a:t>- 校准后再展示，结果页同时给出证据强度与输入距离。</a:t>
            </a:r>
          </a:p>
          <a:p>
            <a:r>
              <a:t>过渡：看结果页实际长什么样。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【产品】结果页</a:t>
            </a:r>
          </a:p>
          <a:p>
            <a:r>
              <a:t>目的：用真实界面证明结果不是一行字，而是一组可核对的证据。</a:t>
            </a:r>
          </a:p>
          <a:p>
            <a:r>
              <a:t>讲述要点：</a:t>
            </a:r>
          </a:p>
          <a:p>
            <a:r>
              <a:t>- 注意右侧证据强度条：绿色代表证据充分，灰/黄会提示谨慎。</a:t>
            </a:r>
          </a:p>
          <a:p>
            <a:r>
              <a:t>- Top 5 归因是模型在看什么，不是因果；页面明确写了这一点。</a:t>
            </a:r>
          </a:p>
          <a:p>
            <a:r>
              <a:t>- 相似病例只做对照，不构成临床证据，避免过度解读。</a:t>
            </a:r>
          </a:p>
          <a:p>
            <a:r>
              <a:t>过渡：接下来进入 Agent：这些解释是谁生成的？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【转折】Agent 定位</a:t>
            </a:r>
          </a:p>
          <a:p>
            <a:r>
              <a:t>目的：把 Agent 从"会聊天"重新定义为"会调工具、会被约束、会留痕"。</a:t>
            </a:r>
          </a:p>
          <a:p>
            <a:r>
              <a:t>讲述要点：</a:t>
            </a:r>
          </a:p>
          <a:p>
            <a:r>
              <a:t>- 聊天框只输出文本；Agent 要能查记录、跑模型、导报告、检索知识。</a:t>
            </a:r>
          </a:p>
          <a:p>
            <a:r>
              <a:t>- 13 个意图决定走哪条路径，11 个节点保证流程可复现。</a:t>
            </a:r>
          </a:p>
          <a:p>
            <a:r>
              <a:t>- 工具调用有权限和超时，模型不能无限自由发挥。</a:t>
            </a:r>
          </a:p>
          <a:p>
            <a:r>
              <a:t>过渡：看这张图是怎么跑起来的。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【架构】Agent 图</a:t>
            </a:r>
          </a:p>
          <a:p>
            <a:r>
              <a:t>目的：讲清自研 Graph 的节点、条件边与检查点。</a:t>
            </a:r>
          </a:p>
          <a:p>
            <a:r>
              <a:t>讲述要点：</a:t>
            </a:r>
          </a:p>
          <a:p>
            <a:r>
              <a:t>- guard 先拦越界问题；cache 命中就直接返回，省掉重复调用。</a:t>
            </a:r>
          </a:p>
          <a:p>
            <a:r>
              <a:t>- route 决定意图，act 才去调工具；assess 在合成前判断证据够不够。</a:t>
            </a:r>
          </a:p>
          <a:p>
            <a:r>
              <a:t>- verify 做数字对账，persist 把每一步写进检查点，支持回放和续跑。</a:t>
            </a:r>
          </a:p>
          <a:p>
            <a:r>
              <a:t>过渡：为什么不用 LangChain？下一层解释取舍。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【架构】框架取舍</a:t>
            </a:r>
          </a:p>
          <a:p>
            <a:r>
              <a:t>目的：解释自研 Graph 的动机：可控、可测、可回放。</a:t>
            </a:r>
          </a:p>
          <a:p>
            <a:r>
              <a:t>讲述要点：</a:t>
            </a:r>
          </a:p>
          <a:p>
            <a:r>
              <a:t>- LangGraph 能力强，但依赖多、版本变化快，答辩环境不可控。</a:t>
            </a:r>
          </a:p>
          <a:p>
            <a:r>
              <a:t>- 自研 Graph 只有 163 行，节点和边显式声明，测试可以逐节点打。</a:t>
            </a:r>
          </a:p>
          <a:p>
            <a:r>
              <a:t>- 约束层是灵魂：模型可以自由推理，但不能自由下结论。</a:t>
            </a:r>
          </a:p>
          <a:p>
            <a:r>
              <a:t>过渡：具体看工具与约束怎么落地。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【实现】工具集</a:t>
            </a:r>
          </a:p>
          <a:p>
            <a:r>
              <a:t>目的：证明 Agent 的能力边界来自工具，而不是 prompt。</a:t>
            </a:r>
          </a:p>
          <a:p>
            <a:r>
              <a:t>讲述要点：</a:t>
            </a:r>
          </a:p>
          <a:p>
            <a:r>
              <a:t>- 工具是唯一的数据入口，避免模型直接拼 SQL 或读文件。</a:t>
            </a:r>
          </a:p>
          <a:p>
            <a:r>
              <a:t>- 每个工具都有 schema、权限和超时；失败返回结构化错误。</a:t>
            </a:r>
          </a:p>
          <a:p>
            <a:r>
              <a:t>- delegate 只能读、不能写，也不能再委派，防止递归失控。</a:t>
            </a:r>
          </a:p>
          <a:p>
            <a:r>
              <a:t>过渡：工具之外，还有一条流式通道和子代理。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【实现】同步与流式</a:t>
            </a:r>
          </a:p>
          <a:p>
            <a:r>
              <a:t>目的：解释为什么要两套入口，以及流式不是装饰。</a:t>
            </a:r>
          </a:p>
          <a:p>
            <a:r>
              <a:t>讲述要点：</a:t>
            </a:r>
          </a:p>
          <a:p>
            <a:r>
              <a:t>- 同步接口给评测和脚本，输出稳定、字段可断言。</a:t>
            </a:r>
          </a:p>
          <a:p>
            <a:r>
              <a:t>- 流式接口把 thinking、工具调用、子代理步骤推给前端，用户能看到"它在干什么"。</a:t>
            </a:r>
          </a:p>
          <a:p>
            <a:r>
              <a:t>- 两条链路共用同一个 Graph，避免行为分叉。</a:t>
            </a:r>
          </a:p>
          <a:p>
            <a:r>
              <a:t>过渡：过程可见之后，还得保证结论可信。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【可信度】三档不确定性</a:t>
            </a:r>
          </a:p>
          <a:p>
            <a:r>
              <a:t>目的：这是系统最容易被质疑的点，主动讲清阈值与代价。</a:t>
            </a:r>
          </a:p>
          <a:p>
            <a:r>
              <a:t>讲述要点：</a:t>
            </a:r>
          </a:p>
          <a:p>
            <a:r>
              <a:t>- 置信档正常回答；谨慎档给倾向但降级措辞；弃权档直接拒绝下结论。</a:t>
            </a:r>
          </a:p>
          <a:p>
            <a:r>
              <a:t>- 输入距离是欧氏距离，超过 15 认为分布外，防止"自信地胡说"。</a:t>
            </a:r>
          </a:p>
          <a:p>
            <a:r>
              <a:t>- 弃权不是失败：它把错误成本从"误导"降成"让用户补信息"。</a:t>
            </a:r>
          </a:p>
          <a:p>
            <a:r>
              <a:t>过渡：判断可信之后，解释也要可信：看 grounding。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【可信度】句子级 grounding</a:t>
            </a:r>
          </a:p>
          <a:p>
            <a:r>
              <a:t>目的：解释"引用"不是装饰：每句话都要能对上事实。</a:t>
            </a:r>
          </a:p>
          <a:p>
            <a:r>
              <a:t>讲述要点：</a:t>
            </a:r>
          </a:p>
          <a:p>
            <a:r>
              <a:t>- 切句是为了逐句核对，而不是整段糊过去。</a:t>
            </a:r>
          </a:p>
          <a:p>
            <a:r>
              <a:t>- 数字对账优先：编造的数字最容易被识破，也最危险。</a:t>
            </a:r>
          </a:p>
          <a:p>
            <a:r>
              <a:t>- 无出处的句子标"推断"或删除，verify 返回丢弃数量。</a:t>
            </a:r>
          </a:p>
          <a:p>
            <a:r>
              <a:t>过渡：看真实问答里这些引用长什么样。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【可信度】可溯源回答</a:t>
            </a:r>
          </a:p>
          <a:p>
            <a:r>
              <a:t>目的：用真实截图证明引用可点、来源可查。</a:t>
            </a:r>
          </a:p>
          <a:p>
            <a:r>
              <a:t>讲述要点：</a:t>
            </a:r>
          </a:p>
          <a:p>
            <a:r>
              <a:t>- 注意正文里的 [FEAT-008] 和底部芯片是同一套 clause_id。</a:t>
            </a:r>
          </a:p>
          <a:p>
            <a:r>
              <a:t>- 底部还标注了来源级别：特征词典、NCI PDQ、指南。</a:t>
            </a:r>
          </a:p>
          <a:p>
            <a:r>
              <a:t>- 如果某句没有依据，会被标成"推断"或直接删掉。</a:t>
            </a:r>
          </a:p>
          <a:p>
            <a:r>
              <a:t>过渡：可信度讲完，进入知识库本身：这些条款从哪来？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【RAG】语料构成</a:t>
            </a:r>
          </a:p>
          <a:p>
            <a:r>
              <a:t>目的：给出语料规模与来源结构，证明覆盖面和权威性分层。</a:t>
            </a:r>
          </a:p>
          <a:p>
            <a:r>
              <a:t>讲述要点：</a:t>
            </a:r>
          </a:p>
          <a:p>
            <a:r>
              <a:t>- NCI PDQ 是主力：治疗 487、筛查 212、预防 141。</a:t>
            </a:r>
          </a:p>
          <a:p>
            <a:r>
              <a:t>- 中文来源包括 WHO、中国指南、NHS、MedlinePlus、维基。</a:t>
            </a:r>
          </a:p>
          <a:p>
            <a:r>
              <a:t>- 特征词典和系统文档单独成域，避免和医学内容互相污染。</a:t>
            </a:r>
          </a:p>
          <a:p>
            <a:r>
              <a:t>过渡：但有语料不等于能检索：先看治理前后。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【RAG】语料治理</a:t>
            </a:r>
          </a:p>
          <a:p>
            <a:r>
              <a:t>目的：说明"知识库乱"是怎么被修的：切块、去噪、去重、打标。</a:t>
            </a:r>
          </a:p>
          <a:p>
            <a:r>
              <a:t>讲述要点：</a:t>
            </a:r>
          </a:p>
          <a:p>
            <a:r>
              <a:t>- 之前按 1100 字硬切，一个章节被切成 3–8 段，引用到"续 8"就丢了上下文。</a:t>
            </a:r>
          </a:p>
          <a:p>
            <a:r>
              <a:t>- 现在按句子边界切 260–900 字，每条能独立读懂；噪声章节直接删。</a:t>
            </a:r>
          </a:p>
          <a:p>
            <a:r>
              <a:t>- 补了副作用三源，因为之前问"化疗副作用"只能召回激素治疗。</a:t>
            </a:r>
          </a:p>
          <a:p>
            <a:r>
              <a:t>过渡：治理完，讲检索怎么把对的条款捞出来。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【RAG】混合检索</a:t>
            </a:r>
          </a:p>
          <a:p>
            <a:r>
              <a:t>目的：讲清每条路径的作用与融合方式。</a:t>
            </a:r>
          </a:p>
          <a:p>
            <a:r>
              <a:t>讲述要点：</a:t>
            </a:r>
          </a:p>
          <a:p>
            <a:r>
              <a:t>- 纯词法换个说法就搜不到；纯向量对专有名词和编号不敏感。</a:t>
            </a:r>
          </a:p>
          <a:p>
            <a:r>
              <a:t>- RRF 只看排名，不需要把两种分数归一化，工程上更稳。</a:t>
            </a:r>
          </a:p>
          <a:p>
            <a:r>
              <a:t>- 重排用 LLM listwise，Top20 进、Top3 出；失败自动退回 RRF 顺序。</a:t>
            </a:r>
          </a:p>
          <a:p>
            <a:r>
              <a:t>过渡：看这五步在真实数据上的参数。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【RAG】检索参数</a:t>
            </a:r>
          </a:p>
          <a:p>
            <a:r>
              <a:t>目的：用真实参数证明检索可解释、可调优。</a:t>
            </a:r>
          </a:p>
          <a:p>
            <a:r>
              <a:t>讲述要点：</a:t>
            </a:r>
          </a:p>
          <a:p>
            <a:r>
              <a:t>- 512 维中文嵌入，CPU 上 1,035 条约 30 秒建完。</a:t>
            </a:r>
          </a:p>
          <a:p>
            <a:r>
              <a:t>- 30 路召回、RRF 取 20、重排输出 3，是延迟与质量的折中。</a:t>
            </a:r>
          </a:p>
          <a:p>
            <a:r>
              <a:t>- 冷启动 9 秒是模型加载，热查询 0.9 秒；知识库页面会显示向量条数。</a:t>
            </a:r>
          </a:p>
          <a:p>
            <a:r>
              <a:t>过渡：参数之外，还有两条硬规则：域路由和引用门槛。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【RAG】检索规则</a:t>
            </a:r>
          </a:p>
          <a:p>
            <a:r>
              <a:t>目的：解释引用质量靠规则，不靠 prompt 祈祷。</a:t>
            </a:r>
          </a:p>
          <a:p>
            <a:r>
              <a:t>讲述要点：</a:t>
            </a:r>
          </a:p>
          <a:p>
            <a:r>
              <a:t>- 域路由解决"系统文档抢医学问题排名"的问题。</a:t>
            </a:r>
          </a:p>
          <a:p>
            <a:r>
              <a:t>- 引用门槛解决"检索到就挂上"的问题，分数不够就不引。</a:t>
            </a:r>
          </a:p>
          <a:p>
            <a:r>
              <a:t>- 重排失败和向量失败都有降级路径，保证可用性。</a:t>
            </a:r>
          </a:p>
          <a:p>
            <a:r>
              <a:t>过渡：看知识库页面实际怎么呈现这些条款。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【产品】知识库页面</a:t>
            </a:r>
          </a:p>
          <a:p>
            <a:r>
              <a:t>目的：展示知识库不是黑盒：用户能自己查、自己核对。</a:t>
            </a:r>
          </a:p>
          <a:p>
            <a:r>
              <a:t>讲述要点：</a:t>
            </a:r>
          </a:p>
          <a:p>
            <a:r>
              <a:t>- 页面首屏服务端渲染 40 条，接口挂了也不会空白。</a:t>
            </a:r>
          </a:p>
          <a:p>
            <a:r>
              <a:t>- 域标签和关键词过滤走服务端分页，页面只有 18KB。</a:t>
            </a:r>
          </a:p>
          <a:p>
            <a:r>
              <a:t>- 混合检索按钮显示重排序号与相关度，方便解释"为什么是这条"。</a:t>
            </a:r>
          </a:p>
          <a:p>
            <a:r>
              <a:t>过渡：用户端讲完，切到管理端与 Coze。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【运营】管理端</a:t>
            </a:r>
          </a:p>
          <a:p>
            <a:r>
              <a:t>目的：说明管理端与用户端隔离，运营数据实时可看。</a:t>
            </a:r>
          </a:p>
          <a:p>
            <a:r>
              <a:t>讲述要点：</a:t>
            </a:r>
          </a:p>
          <a:p>
            <a:r>
              <a:t>- 管理端跑在 5001，Nginx 反代到 /console，和用户端不共享 session。</a:t>
            </a:r>
          </a:p>
          <a:p>
            <a:r>
              <a:t>- JWT + bcrypt + 权限表，普通管理员看不到敏感操作。</a:t>
            </a:r>
          </a:p>
          <a:p>
            <a:r>
              <a:t>- 看板数据来自真实数据库：310 次预测、18 个启用用户。</a:t>
            </a:r>
          </a:p>
          <a:p>
            <a:r>
              <a:t>过渡：管理端里最特别的是 Coze 智能体。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【运营】Coze 架构</a:t>
            </a:r>
          </a:p>
          <a:p>
            <a:r>
              <a:t>目的：讲清 Coze 不是前端直连，而是服务端代理 + 自拼上下文。</a:t>
            </a:r>
          </a:p>
          <a:p>
            <a:r>
              <a:t>讲述要点：</a:t>
            </a:r>
          </a:p>
          <a:p>
            <a:r>
              <a:t>- PAT 只放在服务器环境变量，浏览器完全接触不到。</a:t>
            </a:r>
          </a:p>
          <a:p>
            <a:r>
              <a:t>- 每次提问前把运营数据快照拼进 prompt：预测数、用户数、AI 会话数。</a:t>
            </a:r>
          </a:p>
          <a:p>
            <a:r>
              <a:t>- Coze 失败时管理端仍可用，只影响智能体问答。</a:t>
            </a:r>
          </a:p>
          <a:p>
            <a:r>
              <a:t>过渡：看真实 Coze 页面的运营数据。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【运营】Coze 页面</a:t>
            </a:r>
          </a:p>
          <a:p>
            <a:r>
              <a:t>目的：展示真实运营数据与流式对话，证明不是壳子。</a:t>
            </a:r>
          </a:p>
          <a:p>
            <a:r>
              <a:t>讲述要点：</a:t>
            </a:r>
          </a:p>
          <a:p>
            <a:r>
              <a:t>- 左侧数据是后台快照，每 60 秒刷新；Coze 回答基于这些数字。</a:t>
            </a:r>
          </a:p>
          <a:p>
            <a:r>
              <a:t>- 对话走 SSE，前端逐字渲染；令牌仍只在服务端。</a:t>
            </a:r>
          </a:p>
          <a:p>
            <a:r>
              <a:t>- Coze 定位是运营助手，不做医疗诊断，页面底部有免责声明。</a:t>
            </a:r>
          </a:p>
          <a:p>
            <a:r>
              <a:t>过渡：最后讲部署与质量底线。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【交付】部署与质量</a:t>
            </a:r>
          </a:p>
          <a:p>
            <a:r>
              <a:t>目的：用数字回答"做完了吗、可靠吗"。</a:t>
            </a:r>
          </a:p>
          <a:p>
            <a:r>
              <a:t>讲述要点：</a:t>
            </a:r>
          </a:p>
          <a:p>
            <a:r>
              <a:t>- 华为云 EulerOS + Nginx + systemd，GitHub Actions 一键部署。</a:t>
            </a:r>
          </a:p>
          <a:p>
            <a:r>
              <a:t>- 向量随包发布，避免服务器内存不足导致部署中断（踩过 exit 137）。</a:t>
            </a:r>
          </a:p>
          <a:p>
            <a:r>
              <a:t>- 73 个单测、20 条评测、63 项线上冒烟，全部在交付前跑过。</a:t>
            </a:r>
          </a:p>
          <a:p>
            <a:r>
              <a:t>过渡：最后收束成三句话。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【收束】收束</a:t>
            </a:r>
          </a:p>
          <a:p>
            <a:r>
              <a:t>目的：把全场收束成三句话，留出提问空间。</a:t>
            </a:r>
          </a:p>
          <a:p>
            <a:r>
              <a:t>讲述要点：</a:t>
            </a:r>
          </a:p>
          <a:p>
            <a:r>
              <a:t>- 第一，过程可见：Agent 不是黑箱，节点和工具都能复述。</a:t>
            </a:r>
          </a:p>
          <a:p>
            <a:r>
              <a:t>- 第二，结论可查：1,035 条条款 + 句子级绑定，引用能点开。</a:t>
            </a:r>
          </a:p>
          <a:p>
            <a:r>
              <a:t>- 第三，边界清晰：弃权机制和 Coze 的运营定位，避免过度承诺。</a:t>
            </a:r>
          </a:p>
          <a:p>
            <a:r>
              <a:t>过渡：致谢，进入提问。</a:t>
            </a:r>
          </a:p>
          <a:p>
            <a:r>
              <a:t>提示：停顿 2 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